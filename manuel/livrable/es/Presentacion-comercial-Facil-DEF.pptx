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embeddedFontLst>
    <p:embeddedFont>
      <p:font typeface="Inter" panose="02000503000000020004" pitchFamily="2" charset="0"/>
      <p:regular r:id="rId9"/>
      <p:bold r:id="rId10"/>
    </p:embeddedFont>
    <p:embeddedFont>
      <p:font typeface="Inter SemiBold" panose="02000503000000020004" pitchFamily="2" charset="0"/>
      <p:bold r:id="rId11"/>
    </p:embeddedFont>
    <p:embeddedFont>
      <p:font typeface="Poppins Bold" panose="00000800000000000000" pitchFamily="2" charset="0"/>
      <p:bold r:id="rId12"/>
    </p:embeddedFont>
    <p:embeddedFont>
      <p:font typeface="Poppins SemiBold" panose="00000700000000000000" pitchFamily="2" charset="0"/>
      <p:bold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39477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Facil DEF produce la Declaración Estadística y Fiscal (DEF) de Guinea Ecuatorial según el modelo SYSCOHADA revisado, a partir de la balanza y del libro mayor. El mensaje: la DEF se calcula automáticamente; el experto solo decide y valida.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Insistir en la recaptura y en la trazabilidad: el valor no es solo el tiempo ganado, es una DEF en la que cada cifra se justifica.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Recorrer el proceso: se deposita la balanza, Claude genera la versión borrador, el formulario plantea solo las preguntas que los archivos no resuelven y la validación nominativa produce la versión definitiva.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Estas garantías responden a las objeciones habituales: confidencialidad, responsabilidad de la validación, fiabilidad de lo retomado del año anterior.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Ficha para dejar tras la reunión: se lee sola. Las condiciones comerciales se presentan aparte, según el número de expedientes.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Cerrar con la llamada a la acción: proponer una fecha de demostración con los archivos del cliente potencial.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3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3.png"/><Relationship Id="rId9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nd-d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-blan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" y="571500"/>
            <a:ext cx="1905000" cy="80184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8500" y="2667000"/>
            <a:ext cx="8890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4" b="0" cap="all" spc="163">
                <a:solidFill>
                  <a:srgbClr val="9CCB5E"/>
                </a:solidFill>
                <a:latin typeface="Inter SemiBold"/>
                <a:cs typeface="Inter SemiBold"/>
              </a:rPr>
              <a:t>Facil DEF  ·  Guinea Ecuatorial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8500" y="2984500"/>
            <a:ext cx="9525000" cy="146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712"/>
              </a:lnSpc>
            </a:pPr>
            <a:r>
              <a:rPr sz="4624" b="0">
                <a:solidFill>
                  <a:srgbClr val="FFFFFF"/>
                </a:solidFill>
                <a:latin typeface="Poppins Bold"/>
                <a:cs typeface="Poppins Bold"/>
              </a:rPr>
              <a:t>Su DEF SYSCOHADA,</a:t>
            </a:r>
          </a:p>
          <a:p>
            <a:pPr algn="l">
              <a:lnSpc>
                <a:spcPts val="5712"/>
              </a:lnSpc>
            </a:pPr>
            <a:r>
              <a:rPr sz="4624" b="0">
                <a:solidFill>
                  <a:srgbClr val="9CCB5E"/>
                </a:solidFill>
                <a:latin typeface="Poppins Bold"/>
                <a:cs typeface="Poppins Bold"/>
              </a:rPr>
              <a:t>lista para validar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8500" y="4603750"/>
            <a:ext cx="7620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2"/>
              </a:lnSpc>
            </a:pPr>
            <a:r>
              <a:rPr sz="1632" b="0">
                <a:solidFill>
                  <a:srgbClr val="DCE8D2"/>
                </a:solidFill>
                <a:latin typeface="Inter"/>
                <a:cs typeface="Inter"/>
              </a:rPr>
              <a:t>De la balanza a la declaración validada, en su equipo, sin volver a teclear</a:t>
            </a:r>
          </a:p>
        </p:txBody>
      </p:sp>
      <p:sp>
        <p:nvSpPr>
          <p:cNvPr id="7" name="Rectangle 6"/>
          <p:cNvSpPr/>
          <p:nvPr/>
        </p:nvSpPr>
        <p:spPr>
          <a:xfrm>
            <a:off x="698500" y="5524500"/>
            <a:ext cx="10795000" cy="9525"/>
          </a:xfrm>
          <a:prstGeom prst="rect">
            <a:avLst/>
          </a:prstGeom>
          <a:solidFill>
            <a:srgbClr val="3F6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8500" y="5683250"/>
            <a:ext cx="5715000" cy="698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68"/>
              </a:lnSpc>
            </a:pPr>
            <a:r>
              <a:rPr sz="1088" b="0">
                <a:solidFill>
                  <a:srgbClr val="FFFFFF"/>
                </a:solidFill>
                <a:latin typeface="Inter SemiBold"/>
                <a:cs typeface="Inter SemiBold"/>
              </a:rPr>
              <a:t>Emac SAH</a:t>
            </a:r>
            <a:r>
              <a:rPr sz="1088" b="0">
                <a:solidFill>
                  <a:srgbClr val="C9D9C0"/>
                </a:solidFill>
                <a:latin typeface="Inter"/>
                <a:cs typeface="Inter"/>
              </a:rPr>
              <a:t>  |  AI Solutions Architect</a:t>
            </a:r>
          </a:p>
          <a:p>
            <a:pPr algn="l">
              <a:lnSpc>
                <a:spcPts val="1768"/>
              </a:lnSpc>
            </a:pPr>
            <a:r>
              <a:rPr sz="1088" b="0">
                <a:solidFill>
                  <a:srgbClr val="C9D9C0"/>
                </a:solidFill>
                <a:latin typeface="Inter"/>
                <a:cs typeface="Inter"/>
              </a:rPr>
              <a:t>emacsah.com  ·  sah@emacsah.com</a:t>
            </a:r>
          </a:p>
          <a:p>
            <a:pPr algn="l">
              <a:lnSpc>
                <a:spcPts val="1768"/>
              </a:lnSpc>
            </a:pPr>
            <a:r>
              <a:rPr sz="1088" b="0">
                <a:solidFill>
                  <a:srgbClr val="C9D9C0"/>
                </a:solidFill>
                <a:latin typeface="Inter"/>
                <a:cs typeface="Inter"/>
              </a:rPr>
              <a:t>Presentación comercial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3500" y="5683250"/>
            <a:ext cx="5080000" cy="698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1768"/>
              </a:lnSpc>
            </a:pPr>
            <a:r>
              <a:rPr sz="1088" b="0">
                <a:solidFill>
                  <a:srgbClr val="FFFFFF"/>
                </a:solidFill>
                <a:latin typeface="Inter SemiBold"/>
                <a:cs typeface="Inter SemiBold"/>
              </a:rPr>
              <a:t>Versión 0.13.0</a:t>
            </a:r>
          </a:p>
          <a:p>
            <a:pPr algn="r">
              <a:lnSpc>
                <a:spcPts val="1768"/>
              </a:lnSpc>
            </a:pPr>
            <a:r>
              <a:rPr sz="1088" b="0">
                <a:solidFill>
                  <a:srgbClr val="C9D9C0"/>
                </a:solidFill>
                <a:latin typeface="Inter"/>
                <a:cs typeface="Inter"/>
              </a:rPr>
              <a:t>Octubre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c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279400"/>
            <a:ext cx="266700" cy="2667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9500" y="279400"/>
            <a:ext cx="571500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32" b="0">
                <a:solidFill>
                  <a:srgbClr val="141414"/>
                </a:solidFill>
                <a:latin typeface="Poppins SemiBold"/>
                <a:cs typeface="Poppins SemiBold"/>
              </a:rPr>
              <a:t>El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8500" y="279400"/>
            <a:ext cx="444500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16" b="0" cap="all" spc="163">
                <a:solidFill>
                  <a:srgbClr val="5E645A"/>
                </a:solidFill>
                <a:latin typeface="Inter SemiBold"/>
                <a:cs typeface="Inter SemiBold"/>
              </a:rPr>
              <a:t>Problema y respuesta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11200"/>
            <a:ext cx="12192000" cy="9525"/>
          </a:xfrm>
          <a:prstGeom prst="rect">
            <a:avLst/>
          </a:prstGeom>
          <a:solidFill>
            <a:srgbClr val="D9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375400"/>
            <a:ext cx="12192000" cy="9525"/>
          </a:xfrm>
          <a:prstGeom prst="rect">
            <a:avLst/>
          </a:prstGeom>
          <a:solidFill>
            <a:srgbClr val="D9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98500" y="6502400"/>
            <a:ext cx="82550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16" b="0">
                <a:solidFill>
                  <a:srgbClr val="5E645A"/>
                </a:solidFill>
                <a:latin typeface="Inter"/>
                <a:cs typeface="Inter"/>
              </a:rPr>
              <a:t>Emac SAH | SIRET 108 750 407 00018 | emacsah.com | AI Solutions Architect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23500" y="6502400"/>
            <a:ext cx="12700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84" b="0">
                <a:solidFill>
                  <a:srgbClr val="326E00"/>
                </a:solidFill>
                <a:latin typeface="Inter SemiBold"/>
                <a:cs typeface="Inter SemiBold"/>
              </a:rPr>
              <a:t>02 /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" y="889000"/>
            <a:ext cx="107950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86"/>
              </a:lnSpc>
            </a:pPr>
            <a:r>
              <a:rPr sz="2448" b="0">
                <a:solidFill>
                  <a:srgbClr val="141414"/>
                </a:solidFill>
                <a:latin typeface="Poppins Bold"/>
                <a:cs typeface="Poppins Bold"/>
              </a:rPr>
              <a:t>La DEF se teclea de nuevo cada año; </a:t>
            </a:r>
            <a:r>
              <a:rPr sz="2448" b="0">
                <a:solidFill>
                  <a:srgbClr val="468C00"/>
                </a:solidFill>
                <a:latin typeface="Poppins Bold"/>
                <a:cs typeface="Poppins Bold"/>
              </a:rPr>
              <a:t>Facil DEF la calcula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8500" y="1809750"/>
            <a:ext cx="5302250" cy="355600"/>
          </a:xfrm>
          <a:prstGeom prst="rect">
            <a:avLst/>
          </a:prstGeom>
          <a:solidFill>
            <a:srgbClr val="F4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alert-triangle-5E645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900" y="1885950"/>
            <a:ext cx="203200" cy="203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43000" y="1809750"/>
            <a:ext cx="4730750" cy="355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20" b="0" cap="all" spc="102">
                <a:solidFill>
                  <a:srgbClr val="5E645A"/>
                </a:solidFill>
                <a:latin typeface="Inter SemiBold"/>
                <a:cs typeface="Inter SemiBold"/>
              </a:rPr>
              <a:t>Hoy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1250" y="1809750"/>
            <a:ext cx="5302250" cy="355600"/>
          </a:xfrm>
          <a:prstGeom prst="rect">
            <a:avLst/>
          </a:prstGeom>
          <a:solidFill>
            <a:srgbClr val="EEF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check-326E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3650" y="1885950"/>
            <a:ext cx="203200" cy="203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635750" y="1809750"/>
            <a:ext cx="4730750" cy="355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20" b="0" cap="all" spc="102">
                <a:solidFill>
                  <a:srgbClr val="326E00"/>
                </a:solidFill>
                <a:latin typeface="Inter SemiBold"/>
                <a:cs typeface="Inter SemiBold"/>
              </a:rPr>
              <a:t>Con Facil DEF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8500" y="2286000"/>
            <a:ext cx="530225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9000" y="2286000"/>
            <a:ext cx="4921250" cy="76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836"/>
              </a:lnSpc>
            </a:pPr>
            <a:r>
              <a:rPr sz="1292" b="0">
                <a:solidFill>
                  <a:srgbClr val="141414"/>
                </a:solidFill>
                <a:latin typeface="Inter SemiBold"/>
                <a:cs typeface="Inter SemiBold"/>
              </a:rPr>
              <a:t>Los importes de la balanza se copian en decenas de hojas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1250" y="2286000"/>
            <a:ext cx="530225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0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91250" y="2286000"/>
            <a:ext cx="38100" cy="762000"/>
          </a:xfrm>
          <a:prstGeom prst="rect">
            <a:avLst/>
          </a:prstGeom>
          <a:solidFill>
            <a:srgbClr val="46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7150" y="2286000"/>
            <a:ext cx="4895850" cy="76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836"/>
              </a:lnSpc>
            </a:pPr>
            <a:r>
              <a:rPr sz="1292" b="0">
                <a:solidFill>
                  <a:srgbClr val="141414"/>
                </a:solidFill>
                <a:latin typeface="Inter"/>
                <a:cs typeface="Inter"/>
              </a:rPr>
              <a:t>Todos los estados, notas y cuadros fiscales se </a:t>
            </a:r>
            <a:r>
              <a:rPr sz="1292" b="0">
                <a:solidFill>
                  <a:srgbClr val="141414"/>
                </a:solidFill>
                <a:latin typeface="Inter SemiBold"/>
                <a:cs typeface="Inter SemiBold"/>
              </a:rPr>
              <a:t>calculan</a:t>
            </a:r>
            <a:r>
              <a:rPr sz="1292" b="0">
                <a:solidFill>
                  <a:srgbClr val="141414"/>
                </a:solidFill>
                <a:latin typeface="Inter"/>
                <a:cs typeface="Inter"/>
              </a:rPr>
              <a:t> a partir de la balanza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8500" y="3143250"/>
            <a:ext cx="530225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89000" y="3143250"/>
            <a:ext cx="4921250" cy="76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836"/>
              </a:lnSpc>
            </a:pPr>
            <a:r>
              <a:rPr sz="1292" b="0">
                <a:solidFill>
                  <a:srgbClr val="141414"/>
                </a:solidFill>
                <a:latin typeface="Inter SemiBold"/>
                <a:cs typeface="Inter SemiBold"/>
              </a:rPr>
              <a:t>Los comparativos N-1 se retoman a mano, a veces desde un papel escaneado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1250" y="3143250"/>
            <a:ext cx="530225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0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91250" y="3143250"/>
            <a:ext cx="38100" cy="762000"/>
          </a:xfrm>
          <a:prstGeom prst="rect">
            <a:avLst/>
          </a:prstGeom>
          <a:solidFill>
            <a:srgbClr val="46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7150" y="3143250"/>
            <a:ext cx="4895850" cy="76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836"/>
              </a:lnSpc>
            </a:pPr>
            <a:r>
              <a:rPr sz="1292" b="0">
                <a:solidFill>
                  <a:srgbClr val="141414"/>
                </a:solidFill>
                <a:latin typeface="Inter"/>
                <a:cs typeface="Inter"/>
              </a:rPr>
              <a:t>La DEF anterior, incluso </a:t>
            </a:r>
            <a:r>
              <a:rPr sz="1292" b="0">
                <a:solidFill>
                  <a:srgbClr val="141414"/>
                </a:solidFill>
                <a:latin typeface="Inter SemiBold"/>
                <a:cs typeface="Inter SemiBold"/>
              </a:rPr>
              <a:t>escaneada</a:t>
            </a:r>
            <a:r>
              <a:rPr sz="1292" b="0">
                <a:solidFill>
                  <a:srgbClr val="141414"/>
                </a:solidFill>
                <a:latin typeface="Inter"/>
                <a:cs typeface="Inter"/>
              </a:rPr>
              <a:t>, se lee en el equipo y se prueba con las fórmulas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8500" y="4000500"/>
            <a:ext cx="530225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89000" y="4000500"/>
            <a:ext cx="4921250" cy="76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836"/>
              </a:lnSpc>
            </a:pPr>
            <a:r>
              <a:rPr sz="1292" b="0">
                <a:solidFill>
                  <a:srgbClr val="141414"/>
                </a:solidFill>
                <a:latin typeface="Inter SemiBold"/>
                <a:cs typeface="Inter SemiBold"/>
              </a:rPr>
              <a:t>Las opciones fiscales se deciden sin dejar rastro escrito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91250" y="4000500"/>
            <a:ext cx="530225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0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91250" y="4000500"/>
            <a:ext cx="38100" cy="762000"/>
          </a:xfrm>
          <a:prstGeom prst="rect">
            <a:avLst/>
          </a:prstGeom>
          <a:solidFill>
            <a:srgbClr val="46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7150" y="4000500"/>
            <a:ext cx="4895850" cy="76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836"/>
              </a:lnSpc>
            </a:pPr>
            <a:r>
              <a:rPr sz="1292" b="0">
                <a:solidFill>
                  <a:srgbClr val="141414"/>
                </a:solidFill>
                <a:latin typeface="Inter"/>
                <a:cs typeface="Inter"/>
              </a:rPr>
              <a:t>Cada ajuste muestra su </a:t>
            </a:r>
            <a:r>
              <a:rPr sz="1292" b="0">
                <a:solidFill>
                  <a:srgbClr val="141414"/>
                </a:solidFill>
                <a:latin typeface="Inter SemiBold"/>
                <a:cs typeface="Inter SemiBold"/>
              </a:rPr>
              <a:t>efecto sobre el impuesto</a:t>
            </a:r>
            <a:r>
              <a:rPr sz="1292" b="0">
                <a:solidFill>
                  <a:srgbClr val="141414"/>
                </a:solidFill>
                <a:latin typeface="Inter"/>
                <a:cs typeface="Inter"/>
              </a:rPr>
              <a:t>; cada respuesta queda registrada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8500" y="4857750"/>
            <a:ext cx="530225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89000" y="4857750"/>
            <a:ext cx="4921250" cy="76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836"/>
              </a:lnSpc>
            </a:pPr>
            <a:r>
              <a:rPr sz="1292" b="0">
                <a:solidFill>
                  <a:srgbClr val="141414"/>
                </a:solidFill>
                <a:latin typeface="Inter SemiBold"/>
                <a:cs typeface="Inter SemiBold"/>
              </a:rPr>
              <a:t>Las diferencias se descubren en el momento de la presentación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91250" y="4857750"/>
            <a:ext cx="530225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0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191250" y="4857750"/>
            <a:ext cx="38100" cy="762000"/>
          </a:xfrm>
          <a:prstGeom prst="rect">
            <a:avLst/>
          </a:prstGeom>
          <a:solidFill>
            <a:srgbClr val="46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7150" y="4857750"/>
            <a:ext cx="4895850" cy="76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836"/>
              </a:lnSpc>
            </a:pPr>
            <a:r>
              <a:rPr sz="1292" b="0">
                <a:solidFill>
                  <a:srgbClr val="141414"/>
                </a:solidFill>
                <a:latin typeface="Inter"/>
                <a:cs typeface="Inter"/>
              </a:rPr>
              <a:t>Un </a:t>
            </a:r>
            <a:r>
              <a:rPr sz="1292" b="0">
                <a:solidFill>
                  <a:srgbClr val="141414"/>
                </a:solidFill>
                <a:latin typeface="Inter SemiBold"/>
                <a:cs typeface="Inter SemiBold"/>
              </a:rPr>
              <a:t>informe de control</a:t>
            </a:r>
            <a:r>
              <a:rPr sz="1292" b="0">
                <a:solidFill>
                  <a:srgbClr val="141414"/>
                </a:solidFill>
                <a:latin typeface="Inter"/>
                <a:cs typeface="Inter"/>
              </a:rPr>
              <a:t> y un </a:t>
            </a:r>
            <a:r>
              <a:rPr sz="1292" b="0">
                <a:solidFill>
                  <a:srgbClr val="141414"/>
                </a:solidFill>
                <a:latin typeface="Inter SemiBold"/>
                <a:cs typeface="Inter SemiBold"/>
              </a:rPr>
              <a:t>análisis plurianual</a:t>
            </a:r>
            <a:r>
              <a:rPr sz="1292" b="0">
                <a:solidFill>
                  <a:srgbClr val="141414"/>
                </a:solidFill>
                <a:latin typeface="Inter"/>
                <a:cs typeface="Inter"/>
              </a:rPr>
              <a:t> se entregan con cada versión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c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279400"/>
            <a:ext cx="266700" cy="2667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9500" y="279400"/>
            <a:ext cx="571500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32" b="0">
                <a:solidFill>
                  <a:srgbClr val="141414"/>
                </a:solidFill>
                <a:latin typeface="Poppins SemiBold"/>
                <a:cs typeface="Poppins SemiBold"/>
              </a:rPr>
              <a:t>El producto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8500" y="279400"/>
            <a:ext cx="444500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16" b="0" cap="all" spc="163">
                <a:solidFill>
                  <a:srgbClr val="5E645A"/>
                </a:solidFill>
                <a:latin typeface="Inter SemiBold"/>
                <a:cs typeface="Inter SemiBold"/>
              </a:rPr>
              <a:t>Cómo funciona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11200"/>
            <a:ext cx="12192000" cy="9525"/>
          </a:xfrm>
          <a:prstGeom prst="rect">
            <a:avLst/>
          </a:prstGeom>
          <a:solidFill>
            <a:srgbClr val="D9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375400"/>
            <a:ext cx="12192000" cy="9525"/>
          </a:xfrm>
          <a:prstGeom prst="rect">
            <a:avLst/>
          </a:prstGeom>
          <a:solidFill>
            <a:srgbClr val="D9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98500" y="6502400"/>
            <a:ext cx="82550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16" b="0">
                <a:solidFill>
                  <a:srgbClr val="5E645A"/>
                </a:solidFill>
                <a:latin typeface="Inter"/>
                <a:cs typeface="Inter"/>
              </a:rPr>
              <a:t>Emac SAH | SIRET 108 750 407 00018 | emacsah.com | AI Solutions Architect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23500" y="6502400"/>
            <a:ext cx="12700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84" b="0">
                <a:solidFill>
                  <a:srgbClr val="326E00"/>
                </a:solidFill>
                <a:latin typeface="Inter SemiBold"/>
                <a:cs typeface="Inter SemiBold"/>
              </a:rPr>
              <a:t>03 /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" y="889000"/>
            <a:ext cx="107950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86"/>
              </a:lnSpc>
            </a:pPr>
            <a:r>
              <a:rPr sz="2448" b="0">
                <a:solidFill>
                  <a:srgbClr val="141414"/>
                </a:solidFill>
                <a:latin typeface="Poppins Bold"/>
                <a:cs typeface="Poppins Bold"/>
              </a:rPr>
              <a:t>Una frase a Claude, un formulario guiado, </a:t>
            </a:r>
            <a:r>
              <a:rPr sz="2448" b="0">
                <a:solidFill>
                  <a:srgbClr val="468C00"/>
                </a:solidFill>
                <a:latin typeface="Poppins Bold"/>
                <a:cs typeface="Poppins Bold"/>
              </a:rPr>
              <a:t>una DEF validada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8500" y="1841500"/>
            <a:ext cx="2584450" cy="3746500"/>
          </a:xfrm>
          <a:prstGeom prst="rect">
            <a:avLst/>
          </a:prstGeom>
          <a:solidFill>
            <a:srgbClr val="F4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3600" y="19812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40" b="0">
                <a:solidFill>
                  <a:srgbClr val="468C00"/>
                </a:solidFill>
                <a:latin typeface="Poppins Bold"/>
                <a:cs typeface="Poppins Bol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6500" y="1981200"/>
            <a:ext cx="194945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8" b="0">
                <a:solidFill>
                  <a:srgbClr val="141414"/>
                </a:solidFill>
                <a:latin typeface="Poppins SemiBold"/>
                <a:cs typeface="Poppins SemiBold"/>
              </a:rPr>
              <a:t>Pedir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5500" y="2476500"/>
            <a:ext cx="2330450" cy="190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c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600" y="3010489"/>
            <a:ext cx="2254250" cy="8370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63600" y="4508500"/>
            <a:ext cx="225425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sz="1156" b="0">
                <a:solidFill>
                  <a:srgbClr val="33372F"/>
                </a:solidFill>
                <a:latin typeface="Inter"/>
                <a:cs typeface="Inter"/>
              </a:rPr>
              <a:t>« Prepara la DEF 2025 de… »: se crea la carpeta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35350" y="1841500"/>
            <a:ext cx="2584450" cy="3746500"/>
          </a:xfrm>
          <a:prstGeom prst="rect">
            <a:avLst/>
          </a:prstGeom>
          <a:solidFill>
            <a:srgbClr val="F4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00450" y="19812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40" b="0">
                <a:solidFill>
                  <a:srgbClr val="468C00"/>
                </a:solidFill>
                <a:latin typeface="Poppins Bold"/>
                <a:cs typeface="Poppins Bold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43350" y="1981200"/>
            <a:ext cx="194945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8" b="0">
                <a:solidFill>
                  <a:srgbClr val="141414"/>
                </a:solidFill>
                <a:latin typeface="Poppins SemiBold"/>
                <a:cs typeface="Poppins SemiBold"/>
              </a:rPr>
              <a:t>Decidir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62350" y="2476500"/>
            <a:ext cx="2330450" cy="190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c1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0450" y="2897819"/>
            <a:ext cx="2254250" cy="106236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600450" y="4508500"/>
            <a:ext cx="225425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sz="1156" b="0">
                <a:solidFill>
                  <a:srgbClr val="33372F"/>
                </a:solidFill>
                <a:latin typeface="Inter"/>
                <a:cs typeface="Inter"/>
              </a:rPr>
              <a:t>Ajustes propuestos, con su efecto sobre el IS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1841500"/>
            <a:ext cx="2584450" cy="3746500"/>
          </a:xfrm>
          <a:prstGeom prst="rect">
            <a:avLst/>
          </a:prstGeom>
          <a:solidFill>
            <a:srgbClr val="F4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37300" y="19812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40" b="0">
                <a:solidFill>
                  <a:srgbClr val="468C00"/>
                </a:solidFill>
                <a:latin typeface="Poppins Bold"/>
                <a:cs typeface="Poppins Bol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80200" y="1981200"/>
            <a:ext cx="194945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8" b="0">
                <a:solidFill>
                  <a:srgbClr val="141414"/>
                </a:solidFill>
                <a:latin typeface="Poppins SemiBold"/>
                <a:cs typeface="Poppins SemiBold"/>
              </a:rPr>
              <a:t>Explicar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99200" y="2476500"/>
            <a:ext cx="2330450" cy="190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c2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7300" y="2794902"/>
            <a:ext cx="2254250" cy="126819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337300" y="4508500"/>
            <a:ext cx="225425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sz="1156" b="0">
                <a:solidFill>
                  <a:srgbClr val="33372F"/>
                </a:solidFill>
                <a:latin typeface="Inter"/>
                <a:cs typeface="Inter"/>
              </a:rPr>
              <a:t>Variaciones explicadas por las cuentas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09050" y="1841500"/>
            <a:ext cx="2584450" cy="3746500"/>
          </a:xfrm>
          <a:prstGeom prst="rect">
            <a:avLst/>
          </a:prstGeom>
          <a:solidFill>
            <a:srgbClr val="32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074150" y="19812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40" b="0">
                <a:solidFill>
                  <a:srgbClr val="FFFFFF"/>
                </a:solidFill>
                <a:latin typeface="Poppins Bold"/>
                <a:cs typeface="Poppins Bold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7050" y="1981200"/>
            <a:ext cx="194945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8" b="0">
                <a:solidFill>
                  <a:srgbClr val="FFFFFF"/>
                </a:solidFill>
                <a:latin typeface="Poppins SemiBold"/>
                <a:cs typeface="Poppins SemiBold"/>
              </a:rPr>
              <a:t>Validar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36050" y="2476500"/>
            <a:ext cx="2330450" cy="190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c2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74150" y="2897025"/>
            <a:ext cx="2254250" cy="106394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074150" y="4508500"/>
            <a:ext cx="225425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sz="1156" b="0">
                <a:solidFill>
                  <a:srgbClr val="DCE8D2"/>
                </a:solidFill>
                <a:latin typeface="Inter"/>
                <a:cs typeface="Inter"/>
              </a:rPr>
              <a:t>Versión definitiva, sin marca de agua, a su nombre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8500" y="5746750"/>
            <a:ext cx="10795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4" b="0">
                <a:solidFill>
                  <a:srgbClr val="5E645A"/>
                </a:solidFill>
                <a:latin typeface="Inter"/>
                <a:cs typeface="Inter"/>
              </a:rPr>
              <a:t>Capturas del producto (interfaz en francés), datos del cliente ocultos.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c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279400"/>
            <a:ext cx="266700" cy="2667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9500" y="279400"/>
            <a:ext cx="571500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32" b="0">
                <a:solidFill>
                  <a:srgbClr val="141414"/>
                </a:solidFill>
                <a:latin typeface="Poppins SemiBold"/>
                <a:cs typeface="Poppins SemiBold"/>
              </a:rPr>
              <a:t>Las garantías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8500" y="279400"/>
            <a:ext cx="444500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16" b="0" cap="all" spc="163">
                <a:solidFill>
                  <a:srgbClr val="5E645A"/>
                </a:solidFill>
                <a:latin typeface="Inter SemiBold"/>
                <a:cs typeface="Inter SemiBold"/>
              </a:rPr>
              <a:t>Confianza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11200"/>
            <a:ext cx="12192000" cy="9525"/>
          </a:xfrm>
          <a:prstGeom prst="rect">
            <a:avLst/>
          </a:prstGeom>
          <a:solidFill>
            <a:srgbClr val="D9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375400"/>
            <a:ext cx="12192000" cy="9525"/>
          </a:xfrm>
          <a:prstGeom prst="rect">
            <a:avLst/>
          </a:prstGeom>
          <a:solidFill>
            <a:srgbClr val="D9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98500" y="6502400"/>
            <a:ext cx="82550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16" b="0">
                <a:solidFill>
                  <a:srgbClr val="5E645A"/>
                </a:solidFill>
                <a:latin typeface="Inter"/>
                <a:cs typeface="Inter"/>
              </a:rPr>
              <a:t>Emac SAH | SIRET 108 750 407 00018 | emacsah.com | AI Solutions Architect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23500" y="6502400"/>
            <a:ext cx="12700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84" b="0">
                <a:solidFill>
                  <a:srgbClr val="326E00"/>
                </a:solidFill>
                <a:latin typeface="Inter SemiBold"/>
                <a:cs typeface="Inter SemiBold"/>
              </a:rPr>
              <a:t>04 /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" y="889000"/>
            <a:ext cx="107950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86"/>
              </a:lnSpc>
            </a:pPr>
            <a:r>
              <a:rPr sz="2448" b="0">
                <a:solidFill>
                  <a:srgbClr val="141414"/>
                </a:solidFill>
                <a:latin typeface="Poppins Bold"/>
                <a:cs typeface="Poppins Bold"/>
              </a:rPr>
              <a:t>Cifras justificadas, datos </a:t>
            </a:r>
            <a:r>
              <a:rPr sz="2448" b="0">
                <a:solidFill>
                  <a:srgbClr val="468C00"/>
                </a:solidFill>
                <a:latin typeface="Poppins Bold"/>
                <a:cs typeface="Poppins Bold"/>
              </a:rPr>
              <a:t>que permanecen en su empresa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8500" y="1873250"/>
            <a:ext cx="2603500" cy="2984500"/>
          </a:xfrm>
          <a:prstGeom prst="rect">
            <a:avLst/>
          </a:prstGeom>
          <a:solidFill>
            <a:srgbClr val="F4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98500" y="1873250"/>
            <a:ext cx="2603500" cy="31750"/>
          </a:xfrm>
          <a:prstGeom prst="rect">
            <a:avLst/>
          </a:prstGeom>
          <a:solidFill>
            <a:srgbClr val="46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shield-check-326E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" y="2063750"/>
            <a:ext cx="279400" cy="279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76300" y="2457450"/>
            <a:ext cx="22479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2"/>
              </a:lnSpc>
            </a:pPr>
            <a:r>
              <a:rPr sz="1292" b="0">
                <a:solidFill>
                  <a:srgbClr val="141414"/>
                </a:solidFill>
                <a:latin typeface="Poppins SemiBold"/>
                <a:cs typeface="Poppins SemiBold"/>
              </a:rPr>
              <a:t>Datos en el equipo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2711450"/>
            <a:ext cx="2247900" cy="2082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6"/>
              </a:lnSpc>
            </a:pPr>
            <a:r>
              <a:rPr sz="1156" b="0">
                <a:solidFill>
                  <a:srgbClr val="33372F"/>
                </a:solidFill>
                <a:latin typeface="Inter"/>
                <a:cs typeface="Inter"/>
              </a:rPr>
              <a:t>Cálculos, archivos y formulario permanecen en el ordenador; Claude solo recibe seudónimos, con los importes ocultos.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29000" y="1873250"/>
            <a:ext cx="2603500" cy="2984500"/>
          </a:xfrm>
          <a:prstGeom prst="rect">
            <a:avLst/>
          </a:prstGeom>
          <a:solidFill>
            <a:srgbClr val="F4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429000" y="1873250"/>
            <a:ext cx="2603500" cy="31750"/>
          </a:xfrm>
          <a:prstGeom prst="rect">
            <a:avLst/>
          </a:prstGeom>
          <a:solidFill>
            <a:srgbClr val="46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badge-check-326E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6800" y="2063750"/>
            <a:ext cx="279400" cy="279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606800" y="2457450"/>
            <a:ext cx="22479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2"/>
              </a:lnSpc>
            </a:pPr>
            <a:r>
              <a:rPr sz="1292" b="0">
                <a:solidFill>
                  <a:srgbClr val="141414"/>
                </a:solidFill>
                <a:latin typeface="Poppins SemiBold"/>
                <a:cs typeface="Poppins SemiBold"/>
              </a:rPr>
              <a:t>Nada validado en su lugar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6800" y="2927350"/>
            <a:ext cx="2247900" cy="2082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6"/>
              </a:lnSpc>
            </a:pPr>
            <a:r>
              <a:rPr sz="1156" b="0">
                <a:solidFill>
                  <a:srgbClr val="33372F"/>
                </a:solidFill>
                <a:latin typeface="Inter"/>
                <a:cs typeface="Inter"/>
              </a:rPr>
              <a:t>La versión definitiva exige todas las respuestas obligatorias y una validación nominativa.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59500" y="1873250"/>
            <a:ext cx="2603500" cy="2984500"/>
          </a:xfrm>
          <a:prstGeom prst="rect">
            <a:avLst/>
          </a:prstGeom>
          <a:solidFill>
            <a:srgbClr val="F4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59500" y="1873250"/>
            <a:ext cx="2603500" cy="31750"/>
          </a:xfrm>
          <a:prstGeom prst="rect">
            <a:avLst/>
          </a:prstGeom>
          <a:solidFill>
            <a:srgbClr val="46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scan-line-326E0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7300" y="2063750"/>
            <a:ext cx="279400" cy="2794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337300" y="2457450"/>
            <a:ext cx="22479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2"/>
              </a:lnSpc>
            </a:pPr>
            <a:r>
              <a:rPr sz="1292" b="0">
                <a:solidFill>
                  <a:srgbClr val="141414"/>
                </a:solidFill>
                <a:latin typeface="Poppins SemiBold"/>
                <a:cs typeface="Poppins SemiBold"/>
              </a:rPr>
              <a:t>Escaneos leídos y probados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7300" y="2927350"/>
            <a:ext cx="2247900" cy="2082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6"/>
              </a:lnSpc>
            </a:pPr>
            <a:r>
              <a:rPr sz="1156" b="0">
                <a:solidFill>
                  <a:srgbClr val="33372F"/>
                </a:solidFill>
                <a:latin typeface="Inter"/>
                <a:cs typeface="Inter"/>
              </a:rPr>
              <a:t>Un importe leído en una DEF escaneada solo se retoma si verifica las fórmulas SYSCOHADA.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90000" y="1873250"/>
            <a:ext cx="2603500" cy="2984500"/>
          </a:xfrm>
          <a:prstGeom prst="rect">
            <a:avLst/>
          </a:prstGeom>
          <a:solidFill>
            <a:srgbClr val="F4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890000" y="1873250"/>
            <a:ext cx="2603500" cy="31750"/>
          </a:xfrm>
          <a:prstGeom prst="rect">
            <a:avLst/>
          </a:prstGeom>
          <a:solidFill>
            <a:srgbClr val="46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file-search-326E0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67800" y="2063750"/>
            <a:ext cx="279400" cy="2794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067800" y="2457450"/>
            <a:ext cx="22479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2"/>
              </a:lnSpc>
            </a:pPr>
            <a:r>
              <a:rPr sz="1292" b="0">
                <a:solidFill>
                  <a:srgbClr val="141414"/>
                </a:solidFill>
                <a:latin typeface="Poppins SemiBold"/>
                <a:cs typeface="Poppins SemiBold"/>
              </a:rPr>
              <a:t>Todo queda registrado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67800" y="2711450"/>
            <a:ext cx="2247900" cy="2082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6"/>
              </a:lnSpc>
            </a:pPr>
            <a:r>
              <a:rPr sz="1156" b="0">
                <a:solidFill>
                  <a:srgbClr val="33372F"/>
                </a:solidFill>
                <a:latin typeface="Inter"/>
                <a:cs typeface="Inter"/>
              </a:rPr>
              <a:t>Informe de control: respuestas aplicadas, origen, fecha y validador, para cada versión.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8500" y="5080000"/>
            <a:ext cx="10795000" cy="1079500"/>
          </a:xfrm>
          <a:prstGeom prst="rect">
            <a:avLst/>
          </a:prstGeom>
          <a:solidFill>
            <a:srgbClr val="1B4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monitor-check-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7900" y="5435600"/>
            <a:ext cx="355600" cy="3556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524000" y="5080000"/>
            <a:ext cx="9715500" cy="1079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040"/>
              </a:lnSpc>
              <a:spcAft>
                <a:spcPts val="408"/>
              </a:spcAft>
            </a:pPr>
            <a:r>
              <a:rPr sz="1632" b="0">
                <a:solidFill>
                  <a:srgbClr val="FFFFFF"/>
                </a:solidFill>
                <a:latin typeface="Poppins SemiBold"/>
                <a:cs typeface="Poppins SemiBold"/>
              </a:rPr>
              <a:t>Instalado en cinco minutos</a:t>
            </a:r>
          </a:p>
          <a:p>
            <a:pPr algn="l">
              <a:lnSpc>
                <a:spcPts val="2040"/>
              </a:lnSpc>
              <a:spcAft>
                <a:spcPts val="408"/>
              </a:spcAft>
            </a:pPr>
            <a:r>
              <a:rPr sz="1224" b="0">
                <a:solidFill>
                  <a:srgbClr val="DCE8D2"/>
                </a:solidFill>
                <a:latin typeface="Inter"/>
                <a:cs typeface="Inter"/>
              </a:rPr>
              <a:t>Un único archivo para Claude Desktop en Windows, todo incluido: nada más que instalar.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c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279400"/>
            <a:ext cx="266700" cy="2667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9500" y="279400"/>
            <a:ext cx="571500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32" b="0">
                <a:solidFill>
                  <a:srgbClr val="141414"/>
                </a:solidFill>
                <a:latin typeface="Poppins SemiBold"/>
                <a:cs typeface="Poppins SemiBold"/>
              </a:rPr>
              <a:t>Ficha de producto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8500" y="279400"/>
            <a:ext cx="444500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16" b="0" cap="all" spc="163">
                <a:solidFill>
                  <a:srgbClr val="5E645A"/>
                </a:solidFill>
                <a:latin typeface="Inter SemiBold"/>
                <a:cs typeface="Inter SemiBold"/>
              </a:rPr>
              <a:t>Ficha de producto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11200"/>
            <a:ext cx="12192000" cy="9525"/>
          </a:xfrm>
          <a:prstGeom prst="rect">
            <a:avLst/>
          </a:prstGeom>
          <a:solidFill>
            <a:srgbClr val="D9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375400"/>
            <a:ext cx="12192000" cy="9525"/>
          </a:xfrm>
          <a:prstGeom prst="rect">
            <a:avLst/>
          </a:prstGeom>
          <a:solidFill>
            <a:srgbClr val="D9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98500" y="6502400"/>
            <a:ext cx="82550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16" b="0">
                <a:solidFill>
                  <a:srgbClr val="5E645A"/>
                </a:solidFill>
                <a:latin typeface="Inter"/>
                <a:cs typeface="Inter"/>
              </a:rPr>
              <a:t>Emac SAH | SIRET 108 750 407 00018 | emacsah.com | AI Solutions Architect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23500" y="6502400"/>
            <a:ext cx="12700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84" b="0">
                <a:solidFill>
                  <a:srgbClr val="326E00"/>
                </a:solidFill>
                <a:latin typeface="Inter SemiBold"/>
                <a:cs typeface="Inter SemiBold"/>
              </a:rPr>
              <a:t>05 /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" y="889000"/>
            <a:ext cx="107950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86"/>
              </a:lnSpc>
            </a:pPr>
            <a:r>
              <a:rPr sz="2448" b="0">
                <a:solidFill>
                  <a:srgbClr val="141414"/>
                </a:solidFill>
                <a:latin typeface="Poppins Bold"/>
                <a:cs typeface="Poppins Bold"/>
              </a:rPr>
              <a:t>Facil DEF </a:t>
            </a:r>
            <a:r>
              <a:rPr sz="2448" b="0">
                <a:solidFill>
                  <a:srgbClr val="468C00"/>
                </a:solidFill>
                <a:latin typeface="Poppins Bold"/>
                <a:cs typeface="Poppins Bold"/>
              </a:rPr>
              <a:t>de un vistazo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8500" y="1873250"/>
            <a:ext cx="2603500" cy="2984500"/>
          </a:xfrm>
          <a:prstGeom prst="rect">
            <a:avLst/>
          </a:prstGeom>
          <a:solidFill>
            <a:srgbClr val="F4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98500" y="1873250"/>
            <a:ext cx="2603500" cy="31750"/>
          </a:xfrm>
          <a:prstGeom prst="rect">
            <a:avLst/>
          </a:prstGeom>
          <a:solidFill>
            <a:srgbClr val="46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users-326E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" y="2063750"/>
            <a:ext cx="279400" cy="279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76300" y="2457450"/>
            <a:ext cx="22479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2"/>
              </a:lnSpc>
            </a:pPr>
            <a:r>
              <a:rPr sz="1292" b="0">
                <a:solidFill>
                  <a:srgbClr val="141414"/>
                </a:solidFill>
                <a:latin typeface="Poppins SemiBold"/>
                <a:cs typeface="Poppins SemiBold"/>
              </a:rPr>
              <a:t>Para quién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2711450"/>
            <a:ext cx="2247900" cy="2082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6"/>
              </a:lnSpc>
            </a:pPr>
            <a:r>
              <a:rPr sz="1156" b="0">
                <a:solidFill>
                  <a:srgbClr val="33372F"/>
                </a:solidFill>
                <a:latin typeface="Inter"/>
                <a:cs typeface="Inter"/>
              </a:rPr>
              <a:t>Despachos de expertos contables y servicios contables de empresas en Guinea Ecuatorial.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29000" y="1873250"/>
            <a:ext cx="2603500" cy="2984500"/>
          </a:xfrm>
          <a:prstGeom prst="rect">
            <a:avLst/>
          </a:prstGeom>
          <a:solidFill>
            <a:srgbClr val="F4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429000" y="1873250"/>
            <a:ext cx="2603500" cy="31750"/>
          </a:xfrm>
          <a:prstGeom prst="rect">
            <a:avLst/>
          </a:prstGeom>
          <a:solidFill>
            <a:srgbClr val="46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file-input-326E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6800" y="2063750"/>
            <a:ext cx="279400" cy="279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606800" y="2457450"/>
            <a:ext cx="22479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2"/>
              </a:lnSpc>
            </a:pPr>
            <a:r>
              <a:rPr sz="1292" b="0">
                <a:solidFill>
                  <a:srgbClr val="141414"/>
                </a:solidFill>
                <a:latin typeface="Poppins SemiBold"/>
                <a:cs typeface="Poppins SemiBold"/>
              </a:rPr>
              <a:t>Usted deposita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6800" y="2711450"/>
            <a:ext cx="2247900" cy="2082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6"/>
              </a:lnSpc>
            </a:pPr>
            <a:r>
              <a:rPr sz="1156" b="0">
                <a:solidFill>
                  <a:srgbClr val="33372F"/>
                </a:solidFill>
                <a:latin typeface="Inter"/>
                <a:cs typeface="Inter"/>
              </a:rPr>
              <a:t>Balanza y libro mayor; opcionalmente la DEF anterior, en Excel o escaneada, y el logotipo.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59500" y="1873250"/>
            <a:ext cx="2603500" cy="2984500"/>
          </a:xfrm>
          <a:prstGeom prst="rect">
            <a:avLst/>
          </a:prstGeom>
          <a:solidFill>
            <a:srgbClr val="F4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59500" y="1873250"/>
            <a:ext cx="2603500" cy="31750"/>
          </a:xfrm>
          <a:prstGeom prst="rect">
            <a:avLst/>
          </a:prstGeom>
          <a:solidFill>
            <a:srgbClr val="46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files-326E0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7300" y="2063750"/>
            <a:ext cx="279400" cy="2794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337300" y="2457450"/>
            <a:ext cx="22479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2"/>
              </a:lnSpc>
            </a:pPr>
            <a:r>
              <a:rPr sz="1292" b="0">
                <a:solidFill>
                  <a:srgbClr val="141414"/>
                </a:solidFill>
                <a:latin typeface="Poppins SemiBold"/>
                <a:cs typeface="Poppins SemiBold"/>
              </a:rPr>
              <a:t>Usted recibe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7300" y="2711450"/>
            <a:ext cx="2247900" cy="2082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6"/>
              </a:lnSpc>
            </a:pPr>
            <a:r>
              <a:rPr sz="1156" b="0">
                <a:solidFill>
                  <a:srgbClr val="33372F"/>
                </a:solidFill>
                <a:latin typeface="Inter"/>
                <a:cs typeface="Inter"/>
              </a:rPr>
              <a:t>Estados SYSCOHADA, TF1 a TF5, versión en español, informes PDF, control y análisis financiero (17 ratios).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90000" y="1873250"/>
            <a:ext cx="2603500" cy="2984500"/>
          </a:xfrm>
          <a:prstGeom prst="rect">
            <a:avLst/>
          </a:prstGeom>
          <a:solidFill>
            <a:srgbClr val="F4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890000" y="1873250"/>
            <a:ext cx="2603500" cy="31750"/>
          </a:xfrm>
          <a:prstGeom prst="rect">
            <a:avLst/>
          </a:prstGeom>
          <a:solidFill>
            <a:srgbClr val="46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laptop-326E0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67800" y="2063750"/>
            <a:ext cx="279400" cy="2794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067800" y="2457450"/>
            <a:ext cx="22479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2"/>
              </a:lnSpc>
            </a:pPr>
            <a:r>
              <a:rPr sz="1292" b="0">
                <a:solidFill>
                  <a:srgbClr val="141414"/>
                </a:solidFill>
                <a:latin typeface="Poppins SemiBold"/>
                <a:cs typeface="Poppins SemiBold"/>
              </a:rPr>
              <a:t>Requisitos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67800" y="2711450"/>
            <a:ext cx="2247900" cy="2082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6"/>
              </a:lnSpc>
            </a:pPr>
            <a:r>
              <a:rPr sz="1156" b="0">
                <a:solidFill>
                  <a:srgbClr val="33372F"/>
                </a:solidFill>
                <a:latin typeface="Inter"/>
                <a:cs typeface="Inter"/>
              </a:rPr>
              <a:t>Windows y Claude Desktop; nada más que instalar. Manual ilustrado incluido.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8500" y="5080000"/>
            <a:ext cx="10795000" cy="1079500"/>
          </a:xfrm>
          <a:prstGeom prst="rect">
            <a:avLst/>
          </a:prstGeom>
          <a:solidFill>
            <a:srgbClr val="1B4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calendar-check-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7900" y="5435600"/>
            <a:ext cx="355600" cy="3556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524000" y="5080000"/>
            <a:ext cx="9715500" cy="1079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040"/>
              </a:lnSpc>
              <a:spcAft>
                <a:spcPts val="408"/>
              </a:spcAft>
            </a:pPr>
            <a:r>
              <a:rPr sz="1632" b="0">
                <a:solidFill>
                  <a:srgbClr val="FFFFFF"/>
                </a:solidFill>
                <a:latin typeface="Poppins SemiBold"/>
                <a:cs typeface="Poppins SemiBold"/>
              </a:rPr>
              <a:t>Demostración con sus propios archivos</a:t>
            </a:r>
          </a:p>
          <a:p>
            <a:pPr algn="l">
              <a:lnSpc>
                <a:spcPts val="2040"/>
              </a:lnSpc>
              <a:spcAft>
                <a:spcPts val="408"/>
              </a:spcAft>
            </a:pPr>
            <a:r>
              <a:rPr sz="1224" b="0">
                <a:solidFill>
                  <a:srgbClr val="DCE8D2"/>
                </a:solidFill>
                <a:latin typeface="Inter"/>
                <a:cs typeface="Inter"/>
              </a:rPr>
              <a:t>Traiga una balanza: la versión borrador se genera delante de usted.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nd-d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co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" y="279400"/>
            <a:ext cx="266700" cy="266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79500" y="279400"/>
            <a:ext cx="571500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711200"/>
            <a:ext cx="12192000" cy="9525"/>
          </a:xfrm>
          <a:prstGeom prst="rect">
            <a:avLst/>
          </a:prstGeom>
          <a:solidFill>
            <a:srgbClr val="3F6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375400"/>
            <a:ext cx="12192000" cy="9525"/>
          </a:xfrm>
          <a:prstGeom prst="rect">
            <a:avLst/>
          </a:prstGeom>
          <a:solidFill>
            <a:srgbClr val="3F6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98500" y="6502400"/>
            <a:ext cx="82550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16" b="0">
                <a:solidFill>
                  <a:srgbClr val="C9D9C0"/>
                </a:solidFill>
                <a:latin typeface="Inter"/>
                <a:cs typeface="Inter"/>
              </a:rPr>
              <a:t>Emac SAH | SIRET 108 750 407 00018 | emacsah.com | AI Solutions Architect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23500" y="6502400"/>
            <a:ext cx="12700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84" b="0">
                <a:solidFill>
                  <a:srgbClr val="9CCB5E"/>
                </a:solidFill>
                <a:latin typeface="Inter SemiBold"/>
                <a:cs typeface="Inter SemiBold"/>
              </a:rPr>
              <a:t>06 /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" y="1079500"/>
            <a:ext cx="5715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4" b="0" cap="all" spc="163">
                <a:solidFill>
                  <a:srgbClr val="9CCB5E"/>
                </a:solidFill>
                <a:latin typeface="Inter SemiBold"/>
                <a:cs typeface="Inter SemiBold"/>
              </a:rPr>
              <a:t>Próximo paso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" y="1333500"/>
            <a:ext cx="5461000" cy="12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168"/>
              </a:lnSpc>
            </a:pPr>
            <a:r>
              <a:rPr sz="4216" b="0">
                <a:solidFill>
                  <a:srgbClr val="FFFFFF"/>
                </a:solidFill>
                <a:latin typeface="Poppins Bold"/>
                <a:cs typeface="Poppins Bold"/>
              </a:rPr>
              <a:t>Vea su DEF</a:t>
            </a:r>
          </a:p>
          <a:p>
            <a:pPr algn="l">
              <a:lnSpc>
                <a:spcPts val="5168"/>
              </a:lnSpc>
            </a:pPr>
            <a:r>
              <a:rPr sz="4216" b="0">
                <a:solidFill>
                  <a:srgbClr val="9CCB5E"/>
                </a:solidFill>
                <a:latin typeface="Poppins Bold"/>
                <a:cs typeface="Poppins Bold"/>
              </a:rPr>
              <a:t>tomar forma.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" y="2794000"/>
            <a:ext cx="508000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2"/>
              </a:lnSpc>
            </a:pPr>
            <a:r>
              <a:rPr sz="1292" b="0">
                <a:solidFill>
                  <a:srgbClr val="DCE8D2"/>
                </a:solidFill>
                <a:latin typeface="Inter"/>
                <a:cs typeface="Inter"/>
              </a:rPr>
              <a:t>Una demostración con la balanza que usted elija, en su equipo.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8500" y="3619500"/>
            <a:ext cx="5080000" cy="698500"/>
          </a:xfrm>
          <a:prstGeom prst="rect">
            <a:avLst/>
          </a:prstGeom>
          <a:solidFill>
            <a:srgbClr val="0F2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calendar-check-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810000"/>
            <a:ext cx="317500" cy="317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97000" y="3619500"/>
            <a:ext cx="4254500" cy="698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720"/>
              </a:lnSpc>
            </a:pPr>
            <a:r>
              <a:rPr sz="884" b="0" cap="all" spc="136">
                <a:solidFill>
                  <a:srgbClr val="9CCB5E"/>
                </a:solidFill>
                <a:latin typeface="Inter SemiBold"/>
                <a:cs typeface="Inter SemiBold"/>
              </a:rPr>
              <a:t>Solicitar una demostración</a:t>
            </a:r>
          </a:p>
          <a:p>
            <a:pPr algn="l">
              <a:lnSpc>
                <a:spcPts val="2720"/>
              </a:lnSpc>
            </a:pPr>
            <a:r>
              <a:rPr sz="2040" b="0">
                <a:solidFill>
                  <a:srgbClr val="FFFFFF"/>
                </a:solidFill>
                <a:latin typeface="Poppins Bold"/>
                <a:cs typeface="Poppins Bold"/>
              </a:rPr>
              <a:t>sah@emacsah.com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500" y="4540250"/>
            <a:ext cx="5715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4" b="0" cap="all" spc="163">
                <a:solidFill>
                  <a:srgbClr val="9CCB5E"/>
                </a:solidFill>
                <a:latin typeface="Inter SemiBold"/>
                <a:cs typeface="Inter SemiBold"/>
              </a:rPr>
              <a:t>Contacto</a:t>
            </a:r>
          </a:p>
        </p:txBody>
      </p:sp>
      <p:pic>
        <p:nvPicPr>
          <p:cNvPr id="16" name="Picture 15" descr="building-2-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" y="4826000"/>
            <a:ext cx="152400" cy="152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27100" y="4794250"/>
            <a:ext cx="952500" cy="215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92" b="0">
                <a:solidFill>
                  <a:srgbClr val="FFFFFF"/>
                </a:solidFill>
                <a:latin typeface="Poppins SemiBold"/>
                <a:cs typeface="Poppins SemiBold"/>
              </a:rPr>
              <a:t>Emac SAH</a:t>
            </a:r>
          </a:p>
        </p:txBody>
      </p:sp>
      <p:pic>
        <p:nvPicPr>
          <p:cNvPr id="18" name="Picture 17" descr="badge-check-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500" y="5105400"/>
            <a:ext cx="152400" cy="1524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27100" y="5073650"/>
            <a:ext cx="1965325" cy="215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88" b="0">
                <a:solidFill>
                  <a:srgbClr val="FFFFFF"/>
                </a:solidFill>
                <a:latin typeface="Inter"/>
                <a:cs typeface="Inter"/>
              </a:rPr>
              <a:t>SIRET 108 750 407 00018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92425" y="5073650"/>
            <a:ext cx="254000" cy="215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88" b="0">
                <a:solidFill>
                  <a:srgbClr val="3F6E45"/>
                </a:solidFill>
                <a:latin typeface="Inter"/>
                <a:cs typeface="Inter"/>
              </a:rPr>
              <a:t>|</a:t>
            </a:r>
          </a:p>
        </p:txBody>
      </p:sp>
      <p:pic>
        <p:nvPicPr>
          <p:cNvPr id="21" name="Picture 20" descr="phone-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46425" y="5105400"/>
            <a:ext cx="152400" cy="152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375025" y="5073650"/>
            <a:ext cx="1489075" cy="215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88" b="0">
                <a:solidFill>
                  <a:srgbClr val="FFFFFF"/>
                </a:solidFill>
                <a:latin typeface="Inter"/>
                <a:cs typeface="Inter"/>
              </a:rPr>
              <a:t>+33 6 99 33 12 30</a:t>
            </a:r>
          </a:p>
        </p:txBody>
      </p:sp>
      <p:pic>
        <p:nvPicPr>
          <p:cNvPr id="23" name="Picture 22" descr="mail-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8500" y="5384800"/>
            <a:ext cx="152400" cy="1524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27100" y="5353050"/>
            <a:ext cx="1330325" cy="215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88" b="0">
                <a:solidFill>
                  <a:srgbClr val="FFFFFF"/>
                </a:solidFill>
                <a:latin typeface="Inter"/>
                <a:cs typeface="Inter"/>
              </a:rPr>
              <a:t>sah@emacsah.com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92425" y="5353050"/>
            <a:ext cx="254000" cy="215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88" b="0">
                <a:solidFill>
                  <a:srgbClr val="3F6E45"/>
                </a:solidFill>
                <a:latin typeface="Inter"/>
                <a:cs typeface="Inter"/>
              </a:rPr>
              <a:t>|</a:t>
            </a:r>
          </a:p>
        </p:txBody>
      </p:sp>
      <p:pic>
        <p:nvPicPr>
          <p:cNvPr id="26" name="Picture 25" descr="mail-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46425" y="5384800"/>
            <a:ext cx="152400" cy="1524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375025" y="5353050"/>
            <a:ext cx="1489075" cy="215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88" b="0">
                <a:solidFill>
                  <a:srgbClr val="FFFFFF"/>
                </a:solidFill>
                <a:latin typeface="Inter"/>
                <a:cs typeface="Inter"/>
              </a:rPr>
              <a:t>emacsah@gmail.com</a:t>
            </a:r>
          </a:p>
        </p:txBody>
      </p:sp>
      <p:pic>
        <p:nvPicPr>
          <p:cNvPr id="28" name="Picture 27" descr="globe-FFFFF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8500" y="5664200"/>
            <a:ext cx="152400" cy="1524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27100" y="5632450"/>
            <a:ext cx="1012825" cy="215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88" b="0">
                <a:solidFill>
                  <a:srgbClr val="FFFFFF"/>
                </a:solidFill>
                <a:latin typeface="Inter"/>
                <a:cs typeface="Inter"/>
              </a:rPr>
              <a:t>emacsah.com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92425" y="5632450"/>
            <a:ext cx="254000" cy="215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88" b="0">
                <a:solidFill>
                  <a:srgbClr val="3F6E45"/>
                </a:solidFill>
                <a:latin typeface="Inter"/>
                <a:cs typeface="Inter"/>
              </a:rPr>
              <a:t>|</a:t>
            </a:r>
          </a:p>
        </p:txBody>
      </p:sp>
      <p:pic>
        <p:nvPicPr>
          <p:cNvPr id="31" name="Picture 30" descr="map-pin-FFFFFF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46425" y="5664200"/>
            <a:ext cx="152400" cy="1524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3375025" y="5632450"/>
            <a:ext cx="1250950" cy="215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88" b="0">
                <a:solidFill>
                  <a:srgbClr val="FFFFFF"/>
                </a:solidFill>
                <a:latin typeface="Inter"/>
                <a:cs typeface="Inter"/>
              </a:rPr>
              <a:t>París, Francia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31000" y="1079500"/>
            <a:ext cx="6350" cy="4953000"/>
          </a:xfrm>
          <a:prstGeom prst="rect">
            <a:avLst/>
          </a:prstGeom>
          <a:solidFill>
            <a:srgbClr val="3F6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112000" y="1079500"/>
            <a:ext cx="5715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4" b="0" cap="all" spc="163">
                <a:solidFill>
                  <a:srgbClr val="9CCB5E"/>
                </a:solidFill>
                <a:latin typeface="Inter SemiBold"/>
                <a:cs typeface="Inter SemiBold"/>
              </a:rPr>
              <a:t>Por qué Facil DEF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2000" y="1397000"/>
            <a:ext cx="5715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40" b="0">
                <a:solidFill>
                  <a:srgbClr val="9CCB5E"/>
                </a:solidFill>
                <a:latin typeface="Poppins Bold"/>
                <a:cs typeface="Poppins Bold"/>
              </a:rPr>
              <a:t>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3500" y="14097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8" b="0">
                <a:solidFill>
                  <a:srgbClr val="FFFFFF"/>
                </a:solidFill>
                <a:latin typeface="Poppins SemiBold"/>
                <a:cs typeface="Poppins SemiBold"/>
              </a:rPr>
              <a:t>Primero lo automático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3500" y="1663700"/>
            <a:ext cx="3810000" cy="44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4"/>
              </a:lnSpc>
            </a:pPr>
            <a:r>
              <a:rPr sz="1088" b="0">
                <a:solidFill>
                  <a:srgbClr val="C9D9C0"/>
                </a:solidFill>
                <a:latin typeface="Inter"/>
                <a:cs typeface="Inter"/>
              </a:rPr>
              <a:t>La DEF completa se calcula antes de la primera pregunta.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12000" y="2802466"/>
            <a:ext cx="4381500" cy="6350"/>
          </a:xfrm>
          <a:prstGeom prst="rect">
            <a:avLst/>
          </a:prstGeom>
          <a:solidFill>
            <a:srgbClr val="3F6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112000" y="2942166"/>
            <a:ext cx="5715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40" b="0">
                <a:solidFill>
                  <a:srgbClr val="9CCB5E"/>
                </a:solidFill>
                <a:latin typeface="Poppins Bold"/>
                <a:cs typeface="Poppins Bold"/>
              </a:rPr>
              <a:t>02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3500" y="2954866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8" b="0">
                <a:solidFill>
                  <a:srgbClr val="FFFFFF"/>
                </a:solidFill>
                <a:latin typeface="Poppins SemiBold"/>
                <a:cs typeface="Poppins SemiBold"/>
              </a:rPr>
              <a:t>Después las preguntas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83500" y="3208866"/>
            <a:ext cx="3810000" cy="44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4"/>
              </a:lnSpc>
            </a:pPr>
            <a:r>
              <a:rPr sz="1088" b="0">
                <a:solidFill>
                  <a:srgbClr val="C9D9C0"/>
                </a:solidFill>
                <a:latin typeface="Inter"/>
                <a:cs typeface="Inter"/>
              </a:rPr>
              <a:t>Solo las que sus archivos no resuelven, una sola vez.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112000" y="4347633"/>
            <a:ext cx="4381500" cy="6350"/>
          </a:xfrm>
          <a:prstGeom prst="rect">
            <a:avLst/>
          </a:prstGeom>
          <a:solidFill>
            <a:srgbClr val="3F6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112000" y="4487333"/>
            <a:ext cx="5715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40" b="0">
                <a:solidFill>
                  <a:srgbClr val="9CCB5E"/>
                </a:solidFill>
                <a:latin typeface="Poppins Bold"/>
                <a:cs typeface="Poppins Bold"/>
              </a:rPr>
              <a:t>03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83500" y="4500033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8" b="0">
                <a:solidFill>
                  <a:srgbClr val="FFFFFF"/>
                </a:solidFill>
                <a:latin typeface="Poppins SemiBold"/>
                <a:cs typeface="Poppins SemiBold"/>
              </a:rPr>
              <a:t>Validada por usted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83500" y="4754033"/>
            <a:ext cx="3810000" cy="44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4"/>
              </a:lnSpc>
            </a:pPr>
            <a:r>
              <a:rPr sz="1088" b="0">
                <a:solidFill>
                  <a:srgbClr val="C9D9C0"/>
                </a:solidFill>
                <a:latin typeface="Inter"/>
                <a:cs typeface="Inter"/>
              </a:rPr>
              <a:t>Cada respuesta registrada, la versión definitiva a su nombre.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852</Words>
  <Application>Microsoft Office PowerPoint</Application>
  <PresentationFormat>Grand écran</PresentationFormat>
  <Paragraphs>107</Paragraphs>
  <Slides>6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3" baseType="lpstr">
      <vt:lpstr>Arial</vt:lpstr>
      <vt:lpstr>Inter</vt:lpstr>
      <vt:lpstr>Poppins Bold</vt:lpstr>
      <vt:lpstr>Poppins SemiBold</vt:lpstr>
      <vt:lpstr>Inter SemiBold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 DEF SYSCOHADA, lista para validar</dc:title>
  <dc:subject/>
  <dc:creator>Emac SAH</dc:creator>
  <cp:keywords/>
  <dc:description>generated using python-pptx</dc:description>
  <cp:lastModifiedBy>Kouemou Sah Jean Emac</cp:lastModifiedBy>
  <cp:revision>2</cp:revision>
  <dcterms:created xsi:type="dcterms:W3CDTF">2013-01-27T09:14:16Z</dcterms:created>
  <dcterms:modified xsi:type="dcterms:W3CDTF">2026-10-19T22:14:21Z</dcterms:modified>
  <cp:category/>
</cp:coreProperties>
</file>