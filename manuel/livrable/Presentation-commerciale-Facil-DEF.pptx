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 panose="02000503000000020004" pitchFamily="2" charset="0"/>
      <p:regular r:id="rId9"/>
      <p:bold r:id="rId10"/>
    </p:embeddedFont>
    <p:embeddedFont>
      <p:font typeface="Inter SemiBold" panose="02000503000000020004" pitchFamily="2" charset="0"/>
      <p:bold r:id="rId11"/>
    </p:embeddedFont>
    <p:embeddedFont>
      <p:font typeface="Poppins Bold" panose="00000800000000000000" pitchFamily="2" charset="0"/>
      <p:bold r:id="rId12"/>
    </p:embeddedFont>
    <p:embeddedFont>
      <p:font typeface="Poppins SemiBold" panose="00000700000000000000" pitchFamily="2" charset="0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188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Facil DEF produit la Déclaration statistique et fiscale (DSF) de Guinée équatoriale au modèle SYSCOHADA révisé, à partir de la balance et du grand livre. Le message : la DSF est calculée automatiquement, l'expert ne fait que décider et valider.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sur la ressaisie et sur la trace : la valeur n'est pas seulement le gain de temps, c'est une DSF dont chaque chiffre se justifie.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Dérouler le parcours : on dépose la balance, Claude génère la version projet, le formulaire pose seulement les questions que les fichiers ne tranchent pas, puis la validation nominative produit la version définitive.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Ces garanties répondent aux objections habituelles : confidentialité, responsabilité de la validation, fiabilité des reprises de l'année précédente.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Fiche à laisser après le rendez-vous : elle se lit seule. Les conditions commerciales se présentent à part, selon le nombre de dossiers.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Conclure sur l'appel à l'action : proposer une date de démonstration sur les fichiers du prospect.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-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-bla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571500"/>
            <a:ext cx="1905000" cy="8018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" y="2667000"/>
            <a:ext cx="889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Facil DEF  ·  Guinée équatoriale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8500" y="2984500"/>
            <a:ext cx="9525000" cy="146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12"/>
              </a:lnSpc>
            </a:pPr>
            <a:r>
              <a:rPr sz="4624" b="0">
                <a:solidFill>
                  <a:srgbClr val="FFFFFF"/>
                </a:solidFill>
                <a:latin typeface="Poppins Bold"/>
                <a:cs typeface="Poppins Bold"/>
              </a:rPr>
              <a:t>Votre DSF SYSCOHADA,</a:t>
            </a:r>
          </a:p>
          <a:p>
            <a:pPr algn="l">
              <a:lnSpc>
                <a:spcPts val="5712"/>
              </a:lnSpc>
            </a:pPr>
            <a:r>
              <a:rPr sz="4624" b="0">
                <a:solidFill>
                  <a:srgbClr val="9CCB5E"/>
                </a:solidFill>
                <a:latin typeface="Poppins Bold"/>
                <a:cs typeface="Poppins Bold"/>
              </a:rPr>
              <a:t>prête à valider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46037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sz="1632" b="0">
                <a:solidFill>
                  <a:srgbClr val="DCE8D2"/>
                </a:solidFill>
                <a:latin typeface="Inter"/>
                <a:cs typeface="Inter"/>
              </a:rPr>
              <a:t>De la balance à la déclaration validée, sur votre poste, sans ressaisie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5524500"/>
            <a:ext cx="10795000" cy="9525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8500" y="5683250"/>
            <a:ext cx="57150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68"/>
              </a:lnSpc>
            </a:pPr>
            <a:r>
              <a:rPr sz="1088" b="0">
                <a:solidFill>
                  <a:srgbClr val="FFFFFF"/>
                </a:solidFill>
                <a:latin typeface="Inter SemiBold"/>
                <a:cs typeface="Inter SemiBold"/>
              </a:rPr>
              <a:t>Emac SAH</a:t>
            </a: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  |  AI Solutions Architect</a:t>
            </a:r>
          </a:p>
          <a:p>
            <a:pPr algn="l">
              <a:lnSpc>
                <a:spcPts val="1768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emacsah.com  ·  sah@emacsah.com</a:t>
            </a:r>
          </a:p>
          <a:p>
            <a:pPr algn="l">
              <a:lnSpc>
                <a:spcPts val="1768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Présentation commerciale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3500" y="5683250"/>
            <a:ext cx="50800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sz="1088" b="0">
                <a:solidFill>
                  <a:srgbClr val="FFFFFF"/>
                </a:solidFill>
                <a:latin typeface="Inter SemiBold"/>
                <a:cs typeface="Inter SemiBold"/>
              </a:rPr>
              <a:t>Version 0.13.0</a:t>
            </a:r>
          </a:p>
          <a:p>
            <a:pPr algn="r">
              <a:lnSpc>
                <a:spcPts val="1768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Constat et réponse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02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La DSF se ressaisit chaque année ;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Facil DEF la calcule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09750"/>
            <a:ext cx="5302250" cy="3556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lert-triangle-5E64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" y="1885950"/>
            <a:ext cx="203200" cy="2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1809750"/>
            <a:ext cx="473075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0" cap="all" spc="102">
                <a:solidFill>
                  <a:srgbClr val="5E645A"/>
                </a:solidFill>
                <a:latin typeface="Inter SemiBold"/>
                <a:cs typeface="Inter SemiBold"/>
              </a:rPr>
              <a:t>Aujourd'hui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1809750"/>
            <a:ext cx="5302250" cy="355600"/>
          </a:xfrm>
          <a:prstGeom prst="rect">
            <a:avLst/>
          </a:prstGeom>
          <a:solidFill>
            <a:srgbClr val="EE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eck-326E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885950"/>
            <a:ext cx="203200" cy="20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35750" y="1809750"/>
            <a:ext cx="473075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20" b="0" cap="all" spc="102">
                <a:solidFill>
                  <a:srgbClr val="326E00"/>
                </a:solidFill>
                <a:latin typeface="Inter SemiBold"/>
                <a:cs typeface="Inter SemiBold"/>
              </a:rPr>
              <a:t>Avec Facil DEF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500" y="22860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000" y="228600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Les montants de la balance sont recopiés dans des dizaines de feuilles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1250" y="22860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1250" y="228600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7150" y="228600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Tous les états, notes et tableaux fiscaux sont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calculés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 depuis la balance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500" y="31432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9000" y="314325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Les comparatifs N-1 se reprennent à la main, parfois depuis un papier scanné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1250" y="31432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1250" y="314325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7150" y="314325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La DSF précédente, même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scannée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, est lue sur le poste et prouvée par les formules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500" y="40005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9000" y="400050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Les choix fiscaux se décident sans trace écrite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1250" y="400050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91250" y="400050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7150" y="400050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Chaque réintégration montre son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effet sur l'impôt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 ; chaque réponse est tracée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8500" y="48577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9000" y="4857750"/>
            <a:ext cx="49212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Les écarts se découvrent au moment du dépôt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1250" y="4857750"/>
            <a:ext cx="53022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91250" y="4857750"/>
            <a:ext cx="38100" cy="76200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7150" y="4857750"/>
            <a:ext cx="489585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36"/>
              </a:lnSpc>
            </a:pP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Un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rapport de contrôle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 et une </a:t>
            </a:r>
            <a:r>
              <a:rPr sz="1292" b="0">
                <a:solidFill>
                  <a:srgbClr val="141414"/>
                </a:solidFill>
                <a:latin typeface="Inter SemiBold"/>
                <a:cs typeface="Inter SemiBold"/>
              </a:rPr>
              <a:t>analyse pluriannuelle</a:t>
            </a:r>
            <a:r>
              <a:rPr sz="1292" b="0">
                <a:solidFill>
                  <a:srgbClr val="141414"/>
                </a:solidFill>
                <a:latin typeface="Inter"/>
                <a:cs typeface="Inter"/>
              </a:rPr>
              <a:t> sont livrés à chaque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Le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Comment ça marche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03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Une phrase à Claude, un formulaire guidé,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une DSF validée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41500"/>
            <a:ext cx="2584450" cy="3746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360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468C00"/>
                </a:solidFill>
                <a:latin typeface="Poppins Bold"/>
                <a:cs typeface="Poppins 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141414"/>
                </a:solidFill>
                <a:latin typeface="Poppins SemiBold"/>
                <a:cs typeface="Poppins SemiBold"/>
              </a:rPr>
              <a:t>Demander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550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3010489"/>
            <a:ext cx="2254250" cy="8370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360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« Prépare la DSF 2025 de… » : le dossier se crée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35350" y="1841500"/>
            <a:ext cx="2584450" cy="3746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045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468C00"/>
                </a:solidFill>
                <a:latin typeface="Poppins Bold"/>
                <a:cs typeface="Poppins 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35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141414"/>
                </a:solidFill>
                <a:latin typeface="Poppins SemiBold"/>
                <a:cs typeface="Poppins SemiBold"/>
              </a:rPr>
              <a:t>Décider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235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c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2897819"/>
            <a:ext cx="2254250" cy="106236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0045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Réintégrations proposées, avec leur effet sur l'IS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841500"/>
            <a:ext cx="2584450" cy="3746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730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468C00"/>
                </a:solidFill>
                <a:latin typeface="Poppins Bold"/>
                <a:cs typeface="Poppins 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20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141414"/>
                </a:solidFill>
                <a:latin typeface="Poppins SemiBold"/>
                <a:cs typeface="Poppins SemiBold"/>
              </a:rPr>
              <a:t>Expliquer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920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c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2794902"/>
            <a:ext cx="2254250" cy="1268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3730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Variations expliquées par les comptes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09050" y="1841500"/>
            <a:ext cx="2584450" cy="3746500"/>
          </a:xfrm>
          <a:prstGeom prst="rect">
            <a:avLst/>
          </a:prstGeom>
          <a:solidFill>
            <a:srgbClr val="32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74150" y="1981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40" b="0">
                <a:solidFill>
                  <a:srgbClr val="FFFFFF"/>
                </a:solidFill>
                <a:latin typeface="Poppins Bold"/>
                <a:cs typeface="Poppins 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7050" y="1981200"/>
            <a:ext cx="19494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Valider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36050" y="2476500"/>
            <a:ext cx="2330450" cy="190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c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150" y="2897025"/>
            <a:ext cx="2254250" cy="106394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74150" y="4508500"/>
            <a:ext cx="22542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00"/>
              </a:lnSpc>
            </a:pPr>
            <a:r>
              <a:rPr sz="1156" b="0">
                <a:solidFill>
                  <a:srgbClr val="DCE8D2"/>
                </a:solidFill>
                <a:latin typeface="Inter"/>
                <a:cs typeface="Inter"/>
              </a:rPr>
              <a:t>Version définitive, sans filigrane, à votre nom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500" y="574675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>
                <a:solidFill>
                  <a:srgbClr val="5E645A"/>
                </a:solidFill>
                <a:latin typeface="Inter"/>
                <a:cs typeface="Inter"/>
              </a:rPr>
              <a:t>Captures du produit, données client masquées.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Les garanties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Confiance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04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Des chiffres justifiés, des données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qui restent chez vous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8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hield-check-326E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63750"/>
            <a:ext cx="2794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Données sur le poste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Calculs, fichiers et formulaire restent sur l'ordinateur ; Claude ne reçoit que des pseudonymes, montants masqués.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badge-check-326E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800" y="2063750"/>
            <a:ext cx="279400" cy="279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06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Rien de validé à votre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6800" y="29273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La version définitive exige toutes les réponses obligatoires et une validation nominative.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9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59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can-line-326E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2063750"/>
            <a:ext cx="279400" cy="279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7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Scans lus et prouvés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7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Un montant lu sur une DSF scannée n'est repris que s'il vérifie les formules SYSCOHADA.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90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file-search-326E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2063750"/>
            <a:ext cx="279400" cy="279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67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Tout est tracé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8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Rapport de contrôle : réponses appliquées, origine, date et valideur, pour chaque version.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8500" y="5080000"/>
            <a:ext cx="10795000" cy="1079500"/>
          </a:xfrm>
          <a:prstGeom prst="rect">
            <a:avLst/>
          </a:prstGeom>
          <a:solidFill>
            <a:srgbClr val="1B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monitor-check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5435600"/>
            <a:ext cx="355600" cy="355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24000" y="5080000"/>
            <a:ext cx="9715500" cy="1079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632" b="0">
                <a:solidFill>
                  <a:srgbClr val="FFFFFF"/>
                </a:solidFill>
                <a:latin typeface="Poppins SemiBold"/>
                <a:cs typeface="Poppins SemiBold"/>
              </a:rPr>
              <a:t>Installé en cinq minutes</a:t>
            </a:r>
          </a:p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224" b="0">
                <a:solidFill>
                  <a:srgbClr val="DCE8D2"/>
                </a:solidFill>
                <a:latin typeface="Inter"/>
                <a:cs typeface="Inter"/>
              </a:rPr>
              <a:t>Un seul fichier pour Claude Desktop sous Windows, tout est embarqué : rien d'autre à installer.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c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32" b="0">
                <a:solidFill>
                  <a:srgbClr val="141414"/>
                </a:solidFill>
                <a:latin typeface="Poppins SemiBold"/>
                <a:cs typeface="Poppins SemiBold"/>
              </a:rPr>
              <a:t>Fiche produit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8500" y="279400"/>
            <a:ext cx="444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16" b="0" cap="all" spc="163">
                <a:solidFill>
                  <a:srgbClr val="5E645A"/>
                </a:solidFill>
                <a:latin typeface="Inter SemiBold"/>
                <a:cs typeface="Inter SemiBold"/>
              </a:rPr>
              <a:t>Fiche produit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D9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5E645A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326E00"/>
                </a:solidFill>
                <a:latin typeface="Inter SemiBold"/>
                <a:cs typeface="Inter SemiBold"/>
              </a:rPr>
              <a:t>05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889000"/>
            <a:ext cx="1079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86"/>
              </a:lnSpc>
            </a:pPr>
            <a:r>
              <a:rPr sz="2448" b="0">
                <a:solidFill>
                  <a:srgbClr val="141414"/>
                </a:solidFill>
                <a:latin typeface="Poppins Bold"/>
                <a:cs typeface="Poppins Bold"/>
              </a:rPr>
              <a:t>Facil DEF </a:t>
            </a:r>
            <a:r>
              <a:rPr sz="2448" b="0">
                <a:solidFill>
                  <a:srgbClr val="468C00"/>
                </a:solidFill>
                <a:latin typeface="Poppins Bold"/>
                <a:cs typeface="Poppins Bold"/>
              </a:rPr>
              <a:t>en un coup d'œil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8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users-326E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63750"/>
            <a:ext cx="27940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Pour qui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Cabinets d'expertise comptable et services comptables d'entreprises en Guinée équatoriale.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file-input-326E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6800" y="2063750"/>
            <a:ext cx="279400" cy="279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06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Vous déposez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68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Balance et grand livre ; en option la DSF précédente, Excel ou scannée, et le logo.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95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595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files-326E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7300" y="2063750"/>
            <a:ext cx="279400" cy="279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73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Vous recevez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73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Liasse SYSCOHADA, TF1 à TF5, version espagnole, rapports PDF, contrôle et analyse financière (17 ratios).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90000" y="1873250"/>
            <a:ext cx="2603500" cy="2984500"/>
          </a:xfrm>
          <a:prstGeom prst="rect">
            <a:avLst/>
          </a:prstGeom>
          <a:solidFill>
            <a:srgbClr val="F4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90000" y="1873250"/>
            <a:ext cx="2603500" cy="31750"/>
          </a:xfrm>
          <a:prstGeom prst="rect">
            <a:avLst/>
          </a:prstGeom>
          <a:solidFill>
            <a:srgbClr val="46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ptop-326E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2063750"/>
            <a:ext cx="279400" cy="279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67800" y="2457450"/>
            <a:ext cx="22479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2"/>
              </a:lnSpc>
            </a:pPr>
            <a:r>
              <a:rPr sz="1292" b="0">
                <a:solidFill>
                  <a:srgbClr val="141414"/>
                </a:solidFill>
                <a:latin typeface="Poppins SemiBold"/>
                <a:cs typeface="Poppins SemiBold"/>
              </a:rPr>
              <a:t>Prérequis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800" y="2711450"/>
            <a:ext cx="2247900" cy="2082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6"/>
              </a:lnSpc>
            </a:pPr>
            <a:r>
              <a:rPr sz="1156" b="0">
                <a:solidFill>
                  <a:srgbClr val="33372F"/>
                </a:solidFill>
                <a:latin typeface="Inter"/>
                <a:cs typeface="Inter"/>
              </a:rPr>
              <a:t>Windows et Claude Desktop ; rien d'autre à installer. Manuel illustré fourni.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8500" y="5080000"/>
            <a:ext cx="10795000" cy="1079500"/>
          </a:xfrm>
          <a:prstGeom prst="rect">
            <a:avLst/>
          </a:prstGeom>
          <a:solidFill>
            <a:srgbClr val="1B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calendar-check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5435600"/>
            <a:ext cx="355600" cy="355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24000" y="5080000"/>
            <a:ext cx="9715500" cy="1079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632" b="0">
                <a:solidFill>
                  <a:srgbClr val="FFFFFF"/>
                </a:solidFill>
                <a:latin typeface="Poppins SemiBold"/>
                <a:cs typeface="Poppins SemiBold"/>
              </a:rPr>
              <a:t>Démonstration sur vos propres fichiers</a:t>
            </a:r>
          </a:p>
          <a:p>
            <a:pPr algn="l">
              <a:lnSpc>
                <a:spcPts val="2040"/>
              </a:lnSpc>
              <a:spcAft>
                <a:spcPts val="408"/>
              </a:spcAft>
            </a:pPr>
            <a:r>
              <a:rPr sz="1224" b="0">
                <a:solidFill>
                  <a:srgbClr val="DCE8D2"/>
                </a:solidFill>
                <a:latin typeface="Inter"/>
                <a:cs typeface="Inter"/>
              </a:rPr>
              <a:t>Apportez une balance : la version projet se génère devant 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nd-d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c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279400"/>
            <a:ext cx="2667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9500" y="2794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11200"/>
            <a:ext cx="12192000" cy="9525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375400"/>
            <a:ext cx="12192000" cy="9525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500" y="6502400"/>
            <a:ext cx="8255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16" b="0">
                <a:solidFill>
                  <a:srgbClr val="C9D9C0"/>
                </a:solidFill>
                <a:latin typeface="Inter"/>
                <a:cs typeface="Inter"/>
              </a:rPr>
              <a:t>Emac SAH | SIRET 108 750 407 00018 | emacsah.com | AI Solutions Architect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3500" y="6502400"/>
            <a:ext cx="12700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84" b="0">
                <a:solidFill>
                  <a:srgbClr val="9CCB5E"/>
                </a:solidFill>
                <a:latin typeface="Inter SemiBold"/>
                <a:cs typeface="Inter SemiBold"/>
              </a:rPr>
              <a:t>06 /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10795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Prochaine étape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1333500"/>
            <a:ext cx="5461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168"/>
              </a:lnSpc>
            </a:pPr>
            <a:r>
              <a:rPr sz="4216" b="0">
                <a:solidFill>
                  <a:srgbClr val="FFFFFF"/>
                </a:solidFill>
                <a:latin typeface="Poppins Bold"/>
                <a:cs typeface="Poppins Bold"/>
              </a:rPr>
              <a:t>Voyez votre DSF</a:t>
            </a:r>
          </a:p>
          <a:p>
            <a:pPr algn="l">
              <a:lnSpc>
                <a:spcPts val="5168"/>
              </a:lnSpc>
            </a:pPr>
            <a:r>
              <a:rPr sz="4216" b="0">
                <a:solidFill>
                  <a:srgbClr val="9CCB5E"/>
                </a:solidFill>
                <a:latin typeface="Poppins Bold"/>
                <a:cs typeface="Poppins Bold"/>
              </a:rPr>
              <a:t>se construire.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794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2"/>
              </a:lnSpc>
            </a:pPr>
            <a:r>
              <a:rPr sz="1292" b="0">
                <a:solidFill>
                  <a:srgbClr val="DCE8D2"/>
                </a:solidFill>
                <a:latin typeface="Inter"/>
                <a:cs typeface="Inter"/>
              </a:rPr>
              <a:t>Une démonstration sur une balance de votre choix, sur votre poste.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8500" y="3619500"/>
            <a:ext cx="5080000" cy="698500"/>
          </a:xfrm>
          <a:prstGeom prst="rect">
            <a:avLst/>
          </a:prstGeom>
          <a:solidFill>
            <a:srgbClr val="0F2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lendar-chec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10000"/>
            <a:ext cx="317500" cy="317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97000" y="3619500"/>
            <a:ext cx="4254500" cy="698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20"/>
              </a:lnSpc>
            </a:pPr>
            <a:r>
              <a:rPr sz="884" b="0" cap="all" spc="136">
                <a:solidFill>
                  <a:srgbClr val="9CCB5E"/>
                </a:solidFill>
                <a:latin typeface="Inter SemiBold"/>
                <a:cs typeface="Inter SemiBold"/>
              </a:rPr>
              <a:t>Demander une démonstration</a:t>
            </a:r>
          </a:p>
          <a:p>
            <a:pPr algn="l">
              <a:lnSpc>
                <a:spcPts val="2720"/>
              </a:lnSpc>
            </a:pPr>
            <a:r>
              <a:rPr sz="2040" b="0">
                <a:solidFill>
                  <a:srgbClr val="FFFFFF"/>
                </a:solidFill>
                <a:latin typeface="Poppins Bold"/>
                <a:cs typeface="Poppins Bold"/>
              </a:rPr>
              <a:t>sah@emacsah.com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454025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Contact</a:t>
            </a:r>
          </a:p>
        </p:txBody>
      </p:sp>
      <p:pic>
        <p:nvPicPr>
          <p:cNvPr id="16" name="Picture 15" descr="building-2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" y="4826000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7100" y="4794250"/>
            <a:ext cx="9525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92" b="0">
                <a:solidFill>
                  <a:srgbClr val="FFFFFF"/>
                </a:solidFill>
                <a:latin typeface="Poppins SemiBold"/>
                <a:cs typeface="Poppins SemiBold"/>
              </a:rPr>
              <a:t>Emac SAH</a:t>
            </a:r>
          </a:p>
        </p:txBody>
      </p:sp>
      <p:pic>
        <p:nvPicPr>
          <p:cNvPr id="18" name="Picture 17" descr="badge-check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" y="5105400"/>
            <a:ext cx="1524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7100" y="5073650"/>
            <a:ext cx="196532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SIRET 108 750 407 00018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2425" y="5073650"/>
            <a:ext cx="254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3F6E45"/>
                </a:solidFill>
                <a:latin typeface="Inter"/>
                <a:cs typeface="Inter"/>
              </a:rPr>
              <a:t>|</a:t>
            </a:r>
          </a:p>
        </p:txBody>
      </p:sp>
      <p:pic>
        <p:nvPicPr>
          <p:cNvPr id="21" name="Picture 20" descr="phon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6425" y="5105400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75025" y="5073650"/>
            <a:ext cx="148907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+33 6 99 33 12 30</a:t>
            </a:r>
          </a:p>
        </p:txBody>
      </p:sp>
      <p:pic>
        <p:nvPicPr>
          <p:cNvPr id="23" name="Picture 22" descr="mail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" y="5384800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7100" y="5353050"/>
            <a:ext cx="133032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sah@emacsah.com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2425" y="5353050"/>
            <a:ext cx="254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3F6E45"/>
                </a:solidFill>
                <a:latin typeface="Inter"/>
                <a:cs typeface="Inter"/>
              </a:rPr>
              <a:t>|</a:t>
            </a:r>
          </a:p>
        </p:txBody>
      </p:sp>
      <p:pic>
        <p:nvPicPr>
          <p:cNvPr id="26" name="Picture 25" descr="mail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6425" y="5384800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375025" y="5353050"/>
            <a:ext cx="148907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emacsah@gmail.com</a:t>
            </a:r>
          </a:p>
        </p:txBody>
      </p:sp>
      <p:pic>
        <p:nvPicPr>
          <p:cNvPr id="28" name="Picture 27" descr="globe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500" y="566420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7100" y="5632450"/>
            <a:ext cx="101282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emacsah.com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2425" y="5632450"/>
            <a:ext cx="254000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3F6E45"/>
                </a:solidFill>
                <a:latin typeface="Inter"/>
                <a:cs typeface="Inter"/>
              </a:rPr>
              <a:t>|</a:t>
            </a:r>
          </a:p>
        </p:txBody>
      </p:sp>
      <p:pic>
        <p:nvPicPr>
          <p:cNvPr id="31" name="Picture 30" descr="map-pin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6425" y="5664200"/>
            <a:ext cx="15240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375025" y="5632450"/>
            <a:ext cx="1171575" cy="21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88" b="0">
                <a:solidFill>
                  <a:srgbClr val="FFFFFF"/>
                </a:solidFill>
                <a:latin typeface="Inter"/>
                <a:cs typeface="Inter"/>
              </a:rPr>
              <a:t>Paris, France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31000" y="1079500"/>
            <a:ext cx="6350" cy="4953000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12000" y="1079500"/>
            <a:ext cx="571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4" b="0" cap="all" spc="163">
                <a:solidFill>
                  <a:srgbClr val="9CCB5E"/>
                </a:solidFill>
                <a:latin typeface="Inter SemiBold"/>
                <a:cs typeface="Inter SemiBold"/>
              </a:rPr>
              <a:t>Pourquoi Facil DEF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0" y="1397000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40" b="0">
                <a:solidFill>
                  <a:srgbClr val="9CCB5E"/>
                </a:solidFill>
                <a:latin typeface="Poppins Bold"/>
                <a:cs typeface="Poppins Bold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3500" y="14097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Automatique d'abord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3500" y="1663700"/>
            <a:ext cx="3810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La DSF complète est calculée avant la première question.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0" y="2802466"/>
            <a:ext cx="4381500" cy="6350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12000" y="2942166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40" b="0">
                <a:solidFill>
                  <a:srgbClr val="9CCB5E"/>
                </a:solidFill>
                <a:latin typeface="Poppins Bold"/>
                <a:cs typeface="Poppins Bold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3500" y="2954866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Questions ensuite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3500" y="3208866"/>
            <a:ext cx="3810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Seules celles que vos fichiers ne tranchent pas, une seule fois.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12000" y="4347633"/>
            <a:ext cx="4381500" cy="6350"/>
          </a:xfrm>
          <a:prstGeom prst="rect">
            <a:avLst/>
          </a:prstGeom>
          <a:solidFill>
            <a:srgbClr val="3F6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12000" y="4487333"/>
            <a:ext cx="571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40" b="0">
                <a:solidFill>
                  <a:srgbClr val="9CCB5E"/>
                </a:solidFill>
                <a:latin typeface="Poppins Bold"/>
                <a:cs typeface="Poppins Bold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3500" y="4500033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8" b="0">
                <a:solidFill>
                  <a:srgbClr val="FFFFFF"/>
                </a:solidFill>
                <a:latin typeface="Poppins SemiBold"/>
                <a:cs typeface="Poppins SemiBold"/>
              </a:rPr>
              <a:t>Validée par vous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3500" y="4754033"/>
            <a:ext cx="3810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4"/>
              </a:lnSpc>
            </a:pPr>
            <a:r>
              <a:rPr sz="1088" b="0">
                <a:solidFill>
                  <a:srgbClr val="C9D9C0"/>
                </a:solidFill>
                <a:latin typeface="Inter"/>
                <a:cs typeface="Inter"/>
              </a:rPr>
              <a:t>Chaque réponse tracée, la version définitive à votre nom.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Grand écran</PresentationFormat>
  <Paragraphs>107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Poppins Bold</vt:lpstr>
      <vt:lpstr>Poppins SemiBold</vt:lpstr>
      <vt:lpstr>Inter SemiBold</vt:lpstr>
      <vt:lpstr>Arial</vt:lpstr>
      <vt:lpstr>Calibri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Votre DSF SYSCOHADA, prête à valider</dc:title>
  <dc:subject/>
  <dc:creator>Emac SAH</dc:creator>
  <cp:keywords/>
  <dc:description>generated using python-pptx</dc:description>
  <cp:lastModifiedBy>Kouemou Sah Jean Emac</cp:lastModifiedBy>
  <cp:revision>2</cp:revision>
  <dcterms:created xsi:type="dcterms:W3CDTF">2013-01-27T09:14:16Z</dcterms:created>
  <dcterms:modified xsi:type="dcterms:W3CDTF">2026-10-19T22:07:27Z</dcterms:modified>
  <cp:category/>
</cp:coreProperties>
</file>